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Aptech, TechWiz 7 and Al-Nasser University present BudgetBasics by team Ctrl+Alt+Defeat: Ahmed Abdulaziz Dahan, Ahmed Mujahed Al-Shabibi, Mohamed Saleh Al-Duais and Alaa Aldeen Kamel Anaam.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BudgetBasics turns foundational money concepts into a clear learning and practice experience for students and first-time budgeters.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Budgeting often feels harder than it needs to. New learners face unfamiliar terms, rigid rules and little room to practise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BudgetBasics uses plain language and guided practice. The learning content and interactive tools run locally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home page welcomes learners with direct routes into learning, practice and visual resources. Calls to action lead to canonical pages without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Learn Budgeting dropdown opens five focused lessons. Each lesson lives under a clear /learn route and explains how to apply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Needs versus Wants asks learners to classify examples, then explains the reason behind each answer. A decision guide connects necessity with affordability.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resources gallery supports search, sorting and filters. Learners can narrow the locally bundled infographics and reset an empty state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Enter 1,000 SAR. The calculator prepares an educational estimate based on the 50–30–20 guideline. It does not provide personalised financial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result shows 500 SAR for needs, 300 SAR for wants and 200 SAR for savings. Changing the input clears stale results, and invalid values never produce a false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1,200 SAR target with 200 SAR already saved and 300 SAR added monthly leaves 1,000 SAR and an estimated four months. Progress caps at 100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planner starts with 1,200 SAR income. Two sample expenses total 550 SAR, and every edit or deletion updates the balance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planner keeps total expenses and remaining income visible. Entries exist only in memory and disappear when the demonstration resets.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Search uses bundled content. The chatbot answers common budgeting questions with deterministic local rules. It is not a live generative AI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feedback form demonstrates accessible validation and local confirmation. It sends nothing to a server and stores no personal or banking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evidence records 112 passing tests, zero lint findings and a successful production build. The project makes no Lighthouse claim and no network submission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BudgetBasics gives new learners a clear first step: understandable lessons, safe practice and control over their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from team Ctrl+Alt+Defeat and BudgetBasics.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351ED9D6-0A25-4E68-936C-C3E5CD7D66AF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B5E263-5B0F-494C-89C0-ACC5DE27282F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D641E-2E4E-47DB-AB58-27DF7C40EA62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5AAF5-6675-4C4B-9B00-0A5C857A13A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TECHWIZ 7 WEBSITE SHOWCASE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22472-F989-4487-A3F5-32EBA8EC41F1}"/>
              </a:ext>
            </a:extLst>
          </p:cNvPr>
          <p:cNvSpPr>
            <a:spLocks noGrp="1"/>
          </p:cNvSpPr>
          <p:nvPr/>
        </p:nvSpPr>
        <p:spPr>
          <a:xfrm>
            <a:off x="690066" y="2524125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0" lnSpcReduction="10000"/>
          </a:bodyPr>
          <a:lstStyle/>
          <a:p>
            <a:pPr algn="l">
              <a:def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dirty="0" err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Ctrl+Alt+Defeat</a:t>
            </a:r>
            <a:endParaRPr sz="4050" b="1" dirty="0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8ED75-A392-4C9A-BB2A-F6DD48BBAC03}"/>
              </a:ext>
            </a:extLst>
          </p:cNvPr>
          <p:cNvSpPr>
            <a:spLocks noGrp="1"/>
          </p:cNvSpPr>
          <p:nvPr/>
        </p:nvSpPr>
        <p:spPr>
          <a:xfrm>
            <a:off x="728166" y="31908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presents </a:t>
            </a:r>
            <a:r>
              <a:rPr sz="1800" b="1" dirty="0" err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BudgetBasics</a:t>
            </a:r>
            <a:endParaRPr sz="1800" b="1" dirty="0">
              <a:solidFill>
                <a:srgbClr val="F0B63E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69685-DB94-4455-B34A-F8EEEF88E8C1}"/>
              </a:ext>
            </a:extLst>
          </p:cNvPr>
          <p:cNvSpPr>
            <a:spLocks noGrp="1"/>
          </p:cNvSpPr>
          <p:nvPr/>
        </p:nvSpPr>
        <p:spPr>
          <a:xfrm>
            <a:off x="747216" y="39338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Ahmed Abdulaziz Dahan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6561BD-3AAC-430F-9960-7464E53A270C}"/>
              </a:ext>
            </a:extLst>
          </p:cNvPr>
          <p:cNvSpPr>
            <a:spLocks noGrp="1"/>
          </p:cNvSpPr>
          <p:nvPr/>
        </p:nvSpPr>
        <p:spPr>
          <a:xfrm>
            <a:off x="747216" y="44291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Ahmed Mujahed Al-Shabibi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FE78A-5056-4C8A-8E6B-B76750F6CC17}"/>
              </a:ext>
            </a:extLst>
          </p:cNvPr>
          <p:cNvSpPr>
            <a:spLocks noGrp="1"/>
          </p:cNvSpPr>
          <p:nvPr/>
        </p:nvSpPr>
        <p:spPr>
          <a:xfrm>
            <a:off x="747216" y="49244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Mohamed Saleh Al-Duais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4FD3B1-1B9E-49F8-9313-DED5591FBD1C}"/>
              </a:ext>
            </a:extLst>
          </p:cNvPr>
          <p:cNvSpPr>
            <a:spLocks noGrp="1"/>
          </p:cNvSpPr>
          <p:nvPr/>
        </p:nvSpPr>
        <p:spPr>
          <a:xfrm>
            <a:off x="747216" y="54197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Alaa Aldeen Kamel Anaam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09C42A-63FA-474A-885D-0B657165BF57}"/>
              </a:ext>
            </a:extLst>
          </p:cNvPr>
          <p:cNvSpPr>
            <a:spLocks noGrp="1"/>
          </p:cNvSpPr>
          <p:nvPr/>
        </p:nvSpPr>
        <p:spPr>
          <a:xfrm>
            <a:off x="704850" y="898525"/>
            <a:ext cx="3346704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41D9F-388C-46A9-8191-53572007CF1E}"/>
              </a:ext>
            </a:extLst>
          </p:cNvPr>
          <p:cNvSpPr>
            <a:spLocks noGrp="1"/>
          </p:cNvSpPr>
          <p:nvPr/>
        </p:nvSpPr>
        <p:spPr>
          <a:xfrm>
            <a:off x="4385078" y="898525"/>
            <a:ext cx="3346704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18E5C8-8C8E-4174-8736-4ED688EA1A99}"/>
              </a:ext>
            </a:extLst>
          </p:cNvPr>
          <p:cNvSpPr>
            <a:spLocks noGrp="1"/>
          </p:cNvSpPr>
          <p:nvPr/>
        </p:nvSpPr>
        <p:spPr>
          <a:xfrm>
            <a:off x="8128933" y="898525"/>
            <a:ext cx="3348692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8477" y="377825"/>
            <a:ext cx="3219450" cy="2146300"/>
          </a:xfrm>
          <a:prstGeom prst="roundRect">
            <a:avLst>
              <a:gd name="adj" fmla="val 15789"/>
            </a:avLst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13113" y="983580"/>
            <a:ext cx="2980332" cy="934790"/>
          </a:xfrm>
          <a:prstGeom prst="roundRect">
            <a:avLst>
              <a:gd name="adj" fmla="val 15789"/>
            </a:avLst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55697" y="983580"/>
            <a:ext cx="2805466" cy="934790"/>
          </a:xfrm>
          <a:prstGeom prst="roundRect">
            <a:avLst>
              <a:gd name="adj" fmla="val 15789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6B90D2D-84D4-4D37-83C4-8EA9334FB59C}"/>
              </a:ext>
            </a:extLst>
          </p:cNvPr>
          <p:cNvSpPr>
            <a:spLocks noGrp="1"/>
          </p:cNvSpPr>
          <p:nvPr/>
        </p:nvSpPr>
        <p:spPr>
          <a:xfrm>
            <a:off x="704850" y="5962650"/>
            <a:ext cx="10191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APTECH  ·  TECHWIZ 7  ·  AL-NASSER UNIVERSITY</a:t>
            </a:r>
          </a:p>
        </p:txBody>
      </p:sp>
    </p:spTree>
    <p:extLst>
      <p:ext uri="{BB962C8B-B14F-4D97-AF65-F5344CB8AC3E}">
        <p14:creationId xmlns:p14="http://schemas.microsoft.com/office/powerpoint/2010/main" val="113037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4AB233-193E-47A6-970F-6AA9234C1F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B972D-B3D2-4BF3-8296-09B5D49DB21C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20D44-C8F0-4BE0-9AB6-C854576A715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A STUDENT BUDGETING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760BB-1CAC-4831-8CDA-CD071CD964A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810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55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55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BudgetBasics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44900-BCA8-4064-9BDC-55490099D983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22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Money skills, made clear.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EDE0D-27B9-4B3F-8B9D-55542D460203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0287000" cy="19050"/>
          </a:xfrm>
          <a:prstGeom prst="rect">
            <a:avLst/>
          </a:prstGeom>
          <a:solidFill>
            <a:srgbClr val="102F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BE8AD-0813-45A2-9F4D-98E6E7F18231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LEARN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2D9B44-2844-478C-BEF6-C60D7B2F5115}"/>
              </a:ext>
            </a:extLst>
          </p:cNvPr>
          <p:cNvSpPr>
            <a:spLocks noGrp="1"/>
          </p:cNvSpPr>
          <p:nvPr/>
        </p:nvSpPr>
        <p:spPr>
          <a:xfrm>
            <a:off x="4019550" y="40005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PRACTISE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17BD-EBE1-410D-9613-8343380EFD11}"/>
              </a:ext>
            </a:extLst>
          </p:cNvPr>
          <p:cNvSpPr>
            <a:spLocks noGrp="1"/>
          </p:cNvSpPr>
          <p:nvPr/>
        </p:nvSpPr>
        <p:spPr>
          <a:xfrm>
            <a:off x="7486650" y="400050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EXPLORE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003E9-2ED1-4E5E-9FEC-8900EC954F4A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607069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607069"/>
                </a:solidFill>
                <a:latin typeface="Helvetica"/>
                <a:ea typeface="Helvetica"/>
                <a:cs typeface="Helvetica"/>
              </a:rPr>
              <a:t>A frontend-only learning website for students and first-time budgeters</a:t>
            </a:r>
          </a:p>
        </p:txBody>
      </p:sp>
    </p:spTree>
    <p:extLst>
      <p:ext uri="{BB962C8B-B14F-4D97-AF65-F5344CB8AC3E}">
        <p14:creationId xmlns:p14="http://schemas.microsoft.com/office/powerpoint/2010/main" val="102266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64335A2-C89F-4685-82C5-EF979D94FD90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540CE5D-FEC9-4152-8FEC-8CA4451626C6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93AAFB-90D0-4D9F-B3D5-8D74B68AAC4A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F3685-9581-4EA0-AE69-40F94A4EEE5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THE CHALLENGE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23854-5169-4722-AE2B-11249A8289D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8096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76"/>
          </a:bodyPr>
          <a:lstStyle/>
          <a:p>
            <a:pPr algn="l">
              <a:def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Budgeting can feel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23813D-A94C-4F77-AD22-58619BF33D1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09625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65"/>
          </a:bodyPr>
          <a:lstStyle/>
          <a:p>
            <a:pPr algn="l">
              <a:defRPr sz="49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49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overwhelming.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BA5271-8764-4FD0-9EF4-9A6F79F946CB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Too many rules. Too much jargon. Too little confidence.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F18330-868F-40CD-942F-F77110C4586C}"/>
              </a:ext>
            </a:extLst>
          </p:cNvPr>
          <p:cNvSpPr>
            <a:spLocks noGrp="1"/>
          </p:cNvSpPr>
          <p:nvPr/>
        </p:nvSpPr>
        <p:spPr>
          <a:xfrm>
            <a:off x="8439150" y="1466850"/>
            <a:ext cx="2266950" cy="226695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CDEAEE-0EBA-4149-8E55-E16CDB8AE6F8}"/>
              </a:ext>
            </a:extLst>
          </p:cNvPr>
          <p:cNvSpPr>
            <a:spLocks noGrp="1"/>
          </p:cNvSpPr>
          <p:nvPr/>
        </p:nvSpPr>
        <p:spPr>
          <a:xfrm>
            <a:off x="9010650" y="2038350"/>
            <a:ext cx="1123950" cy="112395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6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F4578-8C14-44E1-900C-FB64152B91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2C0FC-A5FA-4740-9642-6BEBFBBB21D6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F44B5-0BA4-4252-8448-8E1BE435292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THE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25CECA-900A-42BB-8BD9-FF33B0469E94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76"/>
          </a:bodyPr>
          <a:lstStyle/>
          <a:p>
            <a:pPr algn="l">
              <a:defRPr sz="43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Clear guidance.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F4EFFF-ACB7-4CC6-AE2A-B4182AC26B47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76"/>
          </a:bodyPr>
          <a:lstStyle/>
          <a:p>
            <a:pPr algn="l">
              <a:defRPr sz="43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No judgment.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317E99-8E0D-43CD-8AEC-CA630B8ECB49}"/>
              </a:ext>
            </a:extLst>
          </p:cNvPr>
          <p:cNvSpPr>
            <a:spLocks noGrp="1"/>
          </p:cNvSpPr>
          <p:nvPr/>
        </p:nvSpPr>
        <p:spPr>
          <a:xfrm>
            <a:off x="704850" y="3524250"/>
            <a:ext cx="8001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Plain language, guided practice and honest privacy choices.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6E13-CC47-41F2-93BB-0BD714ED6485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10001250" cy="57150"/>
          </a:xfrm>
          <a:prstGeom prst="rect">
            <a:avLst/>
          </a:prstGeom>
          <a:solidFill>
            <a:srgbClr val="5E936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22DFA5-6BE4-4B9E-8828-0308BDB84568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607069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607069"/>
                </a:solidFill>
                <a:latin typeface="Helvetica"/>
                <a:ea typeface="Helvetica"/>
                <a:cs typeface="Helvetica"/>
              </a:rPr>
              <a:t>Everything runs locally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78560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7BD22D87-A0B3-4B10-BC34-138A2BE6EE3E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953985F-BC5A-42BB-A37C-39170491C943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6FF03-3308-4809-833A-8FE7AE81F79C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6E960-81FB-427A-BCB3-4C2BE781A66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MEET BUDGETBASICS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F4212-3FF7-4713-898F-5B2E5935338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friendly place to 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A42EDC-9AE6-442C-9DD8-875F64262694}"/>
              </a:ext>
            </a:extLst>
          </p:cNvPr>
          <p:cNvSpPr>
            <a:spLocks noGrp="1"/>
          </p:cNvSpPr>
          <p:nvPr/>
        </p:nvSpPr>
        <p:spPr>
          <a:xfrm>
            <a:off x="1314450" y="1981200"/>
            <a:ext cx="9810750" cy="4324350"/>
          </a:xfrm>
          <a:prstGeom prst="roundRect">
            <a:avLst>
              <a:gd name="adj" fmla="val 1762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04A6DC-5C5D-45B7-A9EC-034DA7686482}"/>
              </a:ext>
            </a:extLst>
          </p:cNvPr>
          <p:cNvSpPr>
            <a:spLocks noGrp="1"/>
          </p:cNvSpPr>
          <p:nvPr/>
        </p:nvSpPr>
        <p:spPr>
          <a:xfrm rot="-120000">
            <a:off x="1181100" y="1809750"/>
            <a:ext cx="9810750" cy="4324350"/>
          </a:xfrm>
          <a:prstGeom prst="roundRect">
            <a:avLst>
              <a:gd name="adj" fmla="val 1762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t="14738" b="14738"/>
          <a:stretch>
            <a:fillRect/>
          </a:stretch>
        </p:blipFill>
        <p:spPr>
          <a:xfrm>
            <a:off x="1181100" y="1809750"/>
            <a:ext cx="9810750" cy="4324350"/>
          </a:xfrm>
          <a:prstGeom prst="roundRect">
            <a:avLst>
              <a:gd name="adj" fmla="val 2643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38D8A7-E26E-4DC0-8703-264F7F64A6CF}"/>
              </a:ext>
            </a:extLst>
          </p:cNvPr>
          <p:cNvSpPr>
            <a:spLocks noGrp="1"/>
          </p:cNvSpPr>
          <p:nvPr/>
        </p:nvSpPr>
        <p:spPr>
          <a:xfrm>
            <a:off x="704850" y="61531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Start learning. Start planning.</a:t>
            </a:r>
          </a:p>
        </p:txBody>
      </p:sp>
    </p:spTree>
    <p:extLst>
      <p:ext uri="{BB962C8B-B14F-4D97-AF65-F5344CB8AC3E}">
        <p14:creationId xmlns:p14="http://schemas.microsoft.com/office/powerpoint/2010/main" val="116496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057D79-244E-4C0A-B3E1-93E9E20BA1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8BFDF-8764-42F7-8091-F65F7941707C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DB7FAC-E546-4B89-A788-5B2D3B1422D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LEARN BUDGETING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03B4AC-32D5-4060-BB68-1E841E6ECB39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763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51"/>
          </a:bodyPr>
          <a:lstStyle/>
          <a:p>
            <a:pPr algn="l">
              <a:defRPr sz="34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4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Five lessons. One clear route.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BDD97-708E-4D28-849F-6F4E90A908A7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10477500" cy="4419600"/>
          </a:xfrm>
          <a:prstGeom prst="roundRect">
            <a:avLst>
              <a:gd name="adj" fmla="val 1724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56D7B4-2DF1-49E8-99DA-9B225D5ADC68}"/>
              </a:ext>
            </a:extLst>
          </p:cNvPr>
          <p:cNvSpPr>
            <a:spLocks noGrp="1"/>
          </p:cNvSpPr>
          <p:nvPr/>
        </p:nvSpPr>
        <p:spPr>
          <a:xfrm rot="60000">
            <a:off x="857250" y="1714500"/>
            <a:ext cx="10477500" cy="4419600"/>
          </a:xfrm>
          <a:prstGeom prst="roundRect">
            <a:avLst>
              <a:gd name="adj" fmla="val 1724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16255" b="16255"/>
          <a:stretch>
            <a:fillRect/>
          </a:stretch>
        </p:blipFill>
        <p:spPr>
          <a:xfrm>
            <a:off x="857250" y="1714500"/>
            <a:ext cx="10477500" cy="4419600"/>
          </a:xfrm>
          <a:prstGeom prst="roundRect">
            <a:avLst>
              <a:gd name="adj" fmla="val 2586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E792A3D-4D36-43F6-9A1B-1D7CF57A7B24}"/>
              </a:ext>
            </a:extLst>
          </p:cNvPr>
          <p:cNvSpPr>
            <a:spLocks noGrp="1"/>
          </p:cNvSpPr>
          <p:nvPr/>
        </p:nvSpPr>
        <p:spPr>
          <a:xfrm>
            <a:off x="8401050" y="61722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r">
              <a:defRPr sz="120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/learn/{page}</a:t>
            </a:r>
          </a:p>
        </p:txBody>
      </p:sp>
    </p:spTree>
    <p:extLst>
      <p:ext uri="{BB962C8B-B14F-4D97-AF65-F5344CB8AC3E}">
        <p14:creationId xmlns:p14="http://schemas.microsoft.com/office/powerpoint/2010/main" val="187012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4040D2F-8AFB-415B-9C7D-A58569BAA450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942A92-325C-4B66-8149-9EBA73DE1EE4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C68C2-1973-47FD-8514-E748F8EA6FD9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06C96-E1E4-4B2F-9459-6592DD5EA62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LEARNING IN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3C14B-F672-4116-A33F-0F2CE1D08B0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0"/>
          </a:bodyPr>
          <a:lstStyle/>
          <a:p>
            <a:pPr algn="l">
              <a:def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Needs or wants?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B8E81-EC55-4D4E-ACA7-A9554CC847E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The explanation matters more than the label.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FB08F3-678F-46D4-B0E9-5C4ABD04E20E}"/>
              </a:ext>
            </a:extLst>
          </p:cNvPr>
          <p:cNvSpPr>
            <a:spLocks noGrp="1"/>
          </p:cNvSpPr>
          <p:nvPr/>
        </p:nvSpPr>
        <p:spPr>
          <a:xfrm>
            <a:off x="1428750" y="2362200"/>
            <a:ext cx="9429750" cy="4000500"/>
          </a:xfrm>
          <a:prstGeom prst="roundRect">
            <a:avLst>
              <a:gd name="adj" fmla="val 1905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6996EA-6C21-446F-B815-17F30AFB8A4A}"/>
              </a:ext>
            </a:extLst>
          </p:cNvPr>
          <p:cNvSpPr>
            <a:spLocks noGrp="1"/>
          </p:cNvSpPr>
          <p:nvPr/>
        </p:nvSpPr>
        <p:spPr>
          <a:xfrm rot="-120000">
            <a:off x="1295400" y="2190750"/>
            <a:ext cx="9429750" cy="4000500"/>
          </a:xfrm>
          <a:prstGeom prst="roundRect">
            <a:avLst>
              <a:gd name="adj" fmla="val 1905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t="16061" b="16061"/>
          <a:stretch>
            <a:fillRect/>
          </a:stretch>
        </p:blipFill>
        <p:spPr>
          <a:xfrm>
            <a:off x="1295400" y="2190750"/>
            <a:ext cx="942975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767324-CBD8-4BC9-87C8-8AA1FD987C5D}"/>
              </a:ext>
            </a:extLst>
          </p:cNvPr>
          <p:cNvSpPr>
            <a:spLocks noGrp="1"/>
          </p:cNvSpPr>
          <p:nvPr/>
        </p:nvSpPr>
        <p:spPr>
          <a:xfrm>
            <a:off x="8915400" y="800100"/>
            <a:ext cx="1943100" cy="876300"/>
          </a:xfrm>
          <a:prstGeom prst="roundRect">
            <a:avLst>
              <a:gd name="adj" fmla="val 8696"/>
            </a:avLst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25E3DF-674F-41BC-BF06-43C761BA7C1A}"/>
              </a:ext>
            </a:extLst>
          </p:cNvPr>
          <p:cNvSpPr>
            <a:spLocks noGrp="1"/>
          </p:cNvSpPr>
          <p:nvPr/>
        </p:nvSpPr>
        <p:spPr>
          <a:xfrm>
            <a:off x="9067800" y="942975"/>
            <a:ext cx="16383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43110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531A93-B87F-4E3D-9D4E-770A2ACF07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8260C2-9F4E-4AB6-8EC4-6696B73922C5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B460A-4A47-4DFF-9BCA-406B98AFBE79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EXPLORE RESOURCES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CBEE0-9B4D-45C0-B641-3A1D68EB86AB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8572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27"/>
          </a:bodyPr>
          <a:lstStyle/>
          <a:p>
            <a:pPr algn="l">
              <a:defRPr sz="34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4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Find the visual that helps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1D242E-BBBF-4859-83C6-1D2C2A77DDA5}"/>
              </a:ext>
            </a:extLst>
          </p:cNvPr>
          <p:cNvSpPr>
            <a:spLocks noGrp="1"/>
          </p:cNvSpPr>
          <p:nvPr/>
        </p:nvSpPr>
        <p:spPr>
          <a:xfrm>
            <a:off x="1123950" y="1924050"/>
            <a:ext cx="10191750" cy="4324350"/>
          </a:xfrm>
          <a:prstGeom prst="roundRect">
            <a:avLst>
              <a:gd name="adj" fmla="val 1762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893BF3-1B04-4914-8210-2D334E6A33D4}"/>
              </a:ext>
            </a:extLst>
          </p:cNvPr>
          <p:cNvSpPr>
            <a:spLocks noGrp="1"/>
          </p:cNvSpPr>
          <p:nvPr/>
        </p:nvSpPr>
        <p:spPr>
          <a:xfrm rot="120000">
            <a:off x="990600" y="1752600"/>
            <a:ext cx="10191750" cy="4324350"/>
          </a:xfrm>
          <a:prstGeom prst="roundRect">
            <a:avLst>
              <a:gd name="adj" fmla="val 1762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16056" b="16056"/>
          <a:stretch>
            <a:fillRect/>
          </a:stretch>
        </p:blipFill>
        <p:spPr>
          <a:xfrm>
            <a:off x="990600" y="1752600"/>
            <a:ext cx="10191750" cy="4324350"/>
          </a:xfrm>
          <a:prstGeom prst="roundRect">
            <a:avLst>
              <a:gd name="adj" fmla="val 264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7566C6-FA8E-4EDA-A293-F00C6C5F2765}"/>
              </a:ext>
            </a:extLst>
          </p:cNvPr>
          <p:cNvSpPr>
            <a:spLocks noGrp="1"/>
          </p:cNvSpPr>
          <p:nvPr/>
        </p:nvSpPr>
        <p:spPr>
          <a:xfrm>
            <a:off x="704850" y="6172200"/>
            <a:ext cx="514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SEARCH  ·  SORT  ·  FILTER</a:t>
            </a:r>
          </a:p>
        </p:txBody>
      </p:sp>
    </p:spTree>
    <p:extLst>
      <p:ext uri="{BB962C8B-B14F-4D97-AF65-F5344CB8AC3E}">
        <p14:creationId xmlns:p14="http://schemas.microsoft.com/office/powerpoint/2010/main" val="115394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41B51439-6E65-45E6-AF24-5766CB16A47F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A6EB9A-C67A-4302-8392-A3118922C747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D52E7-1605-4A14-89F5-C3C85F47342A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15B8AA-8735-4162-A782-03D22B172E9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BUDGET CALCULATOR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BF74D-93B4-436F-BEC7-0EC44185494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905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/>
          </a:bodyPr>
          <a:lstStyle/>
          <a:p>
            <a:pPr algn="l">
              <a:def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Enter one number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29532-3822-4429-B979-A76CBE266948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See a simple 50–30–20 estimate.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5DF874-514F-4E74-A1FB-B05C4E18C555}"/>
              </a:ext>
            </a:extLst>
          </p:cNvPr>
          <p:cNvSpPr>
            <a:spLocks noGrp="1"/>
          </p:cNvSpPr>
          <p:nvPr/>
        </p:nvSpPr>
        <p:spPr>
          <a:xfrm>
            <a:off x="1238250" y="2266950"/>
            <a:ext cx="9906000" cy="4000500"/>
          </a:xfrm>
          <a:prstGeom prst="roundRect">
            <a:avLst>
              <a:gd name="adj" fmla="val 1905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81AB25-C061-44E0-A6F6-F900BD692B77}"/>
              </a:ext>
            </a:extLst>
          </p:cNvPr>
          <p:cNvSpPr>
            <a:spLocks noGrp="1"/>
          </p:cNvSpPr>
          <p:nvPr/>
        </p:nvSpPr>
        <p:spPr>
          <a:xfrm rot="-60000">
            <a:off x="1104900" y="2095500"/>
            <a:ext cx="9906000" cy="4000500"/>
          </a:xfrm>
          <a:prstGeom prst="roundRect">
            <a:avLst>
              <a:gd name="adj" fmla="val 1905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9" name="!!BudgetCalculatorScreenshot"/>
          <p:cNvPicPr>
            <a:picLocks noChangeAspect="1"/>
          </p:cNvPicPr>
          <p:nvPr/>
        </p:nvPicPr>
        <p:blipFill>
          <a:blip r:embed="rId3"/>
          <a:srcRect t="17692" b="17692"/>
          <a:stretch>
            <a:fillRect/>
          </a:stretch>
        </p:blipFill>
        <p:spPr>
          <a:xfrm>
            <a:off x="1104900" y="2095500"/>
            <a:ext cx="990600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777C81-980E-4421-A993-CF823684F097}"/>
              </a:ext>
            </a:extLst>
          </p:cNvPr>
          <p:cNvSpPr>
            <a:spLocks noGrp="1"/>
          </p:cNvSpPr>
          <p:nvPr/>
        </p:nvSpPr>
        <p:spPr>
          <a:xfrm>
            <a:off x="8801100" y="1028700"/>
            <a:ext cx="2286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25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1,000 SAR</a:t>
            </a:r>
          </a:p>
        </p:txBody>
      </p:sp>
    </p:spTree>
    <p:extLst>
      <p:ext uri="{BB962C8B-B14F-4D97-AF65-F5344CB8AC3E}">
        <p14:creationId xmlns:p14="http://schemas.microsoft.com/office/powerpoint/2010/main" val="113124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1A6D086-4EDA-4A96-A365-23EC6BD68D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5A32A6-E55D-4FAD-9F5D-DBA1A7E92DD6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8641F-90A0-4534-9B47-42E7EC0CCB9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INSTANT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127B3-C533-4304-8A6A-8DABFF808E8C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8572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/>
          </a:bodyPr>
          <a:lstStyle/>
          <a:p>
            <a:pPr algn="l">
              <a:defRPr sz="37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7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500  ·  300  ·  200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DCCAF-5076-4736-A50A-9A4FDC5A238F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7715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607069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607069"/>
                </a:solidFill>
                <a:latin typeface="Helvetica"/>
                <a:ea typeface="Helvetica"/>
                <a:cs typeface="Helvetica"/>
              </a:rPr>
              <a:t>Needs        Wants        Savings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CB688D-B99A-4C67-ACCF-6B3072A2DF05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7429500" cy="4191000"/>
          </a:xfrm>
          <a:prstGeom prst="roundRect">
            <a:avLst>
              <a:gd name="adj" fmla="val 1818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0CD3CB-6603-43F1-8272-439C405E019A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7429500" cy="4191000"/>
          </a:xfrm>
          <a:prstGeom prst="roundRect">
            <a:avLst>
              <a:gd name="adj" fmla="val 1818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5" name="!!BudgetCalculatorScreenshot"/>
          <p:cNvPicPr>
            <a:picLocks noChangeAspect="1"/>
          </p:cNvPicPr>
          <p:nvPr/>
        </p:nvPicPr>
        <p:blipFill>
          <a:blip r:embed="rId3"/>
          <a:srcRect t="4872" b="4872"/>
          <a:stretch>
            <a:fillRect/>
          </a:stretch>
        </p:blipFill>
        <p:spPr>
          <a:xfrm>
            <a:off x="609600" y="2019300"/>
            <a:ext cx="74295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DD9066-4F7F-4F28-A6B1-2109CD4C73A5}"/>
              </a:ext>
            </a:extLst>
          </p:cNvPr>
          <p:cNvSpPr>
            <a:spLocks noGrp="1"/>
          </p:cNvSpPr>
          <p:nvPr/>
        </p:nvSpPr>
        <p:spPr>
          <a:xfrm>
            <a:off x="8401050" y="2324100"/>
            <a:ext cx="2819400" cy="1028700"/>
          </a:xfrm>
          <a:prstGeom prst="roundRect">
            <a:avLst>
              <a:gd name="adj" fmla="val 7407"/>
            </a:avLst>
          </a:prstGeom>
          <a:solidFill>
            <a:srgbClr val="102F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42C65-842F-4ECE-A00F-26DB8A0CBEAA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8763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2025E-E591-487F-9AAF-174C692DA3D8}"/>
              </a:ext>
            </a:extLst>
          </p:cNvPr>
          <p:cNvSpPr>
            <a:spLocks noGrp="1"/>
          </p:cNvSpPr>
          <p:nvPr/>
        </p:nvSpPr>
        <p:spPr>
          <a:xfrm>
            <a:off x="9563100" y="241935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500 SAR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8A1440-BC2F-4562-8DCB-9C8E8F5719AB}"/>
              </a:ext>
            </a:extLst>
          </p:cNvPr>
          <p:cNvSpPr>
            <a:spLocks noGrp="1"/>
          </p:cNvSpPr>
          <p:nvPr/>
        </p:nvSpPr>
        <p:spPr>
          <a:xfrm>
            <a:off x="8401050" y="3543300"/>
            <a:ext cx="2819400" cy="1028700"/>
          </a:xfrm>
          <a:prstGeom prst="roundRect">
            <a:avLst>
              <a:gd name="adj" fmla="val 7407"/>
            </a:avLst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9A6E3-06BE-4E2B-9AA2-CFDC3C5908D3}"/>
              </a:ext>
            </a:extLst>
          </p:cNvPr>
          <p:cNvSpPr>
            <a:spLocks noGrp="1"/>
          </p:cNvSpPr>
          <p:nvPr/>
        </p:nvSpPr>
        <p:spPr>
          <a:xfrm>
            <a:off x="8629650" y="3638550"/>
            <a:ext cx="8763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30%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F057E-D727-438D-AEEC-DD5C1F07A23B}"/>
              </a:ext>
            </a:extLst>
          </p:cNvPr>
          <p:cNvSpPr>
            <a:spLocks noGrp="1"/>
          </p:cNvSpPr>
          <p:nvPr/>
        </p:nvSpPr>
        <p:spPr>
          <a:xfrm>
            <a:off x="9563100" y="363855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300 SAR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37C103-8ACD-4ED2-89A9-0BEB8BB5DBE5}"/>
              </a:ext>
            </a:extLst>
          </p:cNvPr>
          <p:cNvSpPr>
            <a:spLocks noGrp="1"/>
          </p:cNvSpPr>
          <p:nvPr/>
        </p:nvSpPr>
        <p:spPr>
          <a:xfrm>
            <a:off x="8401050" y="4762500"/>
            <a:ext cx="2819400" cy="1028700"/>
          </a:xfrm>
          <a:prstGeom prst="roundRect">
            <a:avLst>
              <a:gd name="adj" fmla="val 7407"/>
            </a:avLst>
          </a:prstGeom>
          <a:solidFill>
            <a:srgbClr val="5E936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7C4865-9095-4934-9846-C1EF1D017CCF}"/>
              </a:ext>
            </a:extLst>
          </p:cNvPr>
          <p:cNvSpPr>
            <a:spLocks noGrp="1"/>
          </p:cNvSpPr>
          <p:nvPr/>
        </p:nvSpPr>
        <p:spPr>
          <a:xfrm>
            <a:off x="8629650" y="4857750"/>
            <a:ext cx="8763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8CBD6A-4D19-475F-882C-92562ED603F8}"/>
              </a:ext>
            </a:extLst>
          </p:cNvPr>
          <p:cNvSpPr>
            <a:spLocks noGrp="1"/>
          </p:cNvSpPr>
          <p:nvPr/>
        </p:nvSpPr>
        <p:spPr>
          <a:xfrm>
            <a:off x="9563100" y="4857750"/>
            <a:ext cx="13906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200 SAR</a:t>
            </a:r>
          </a:p>
        </p:txBody>
      </p:sp>
    </p:spTree>
    <p:extLst>
      <p:ext uri="{BB962C8B-B14F-4D97-AF65-F5344CB8AC3E}">
        <p14:creationId xmlns:p14="http://schemas.microsoft.com/office/powerpoint/2010/main" val="20235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954E7F12-F034-4CA5-BA92-BA746CE19DE9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3EAD9C5-A4F7-4744-B867-092A34C6830B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4E4F2-80D0-4835-982E-DF11F3038610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786D6-AD65-484E-A7D0-28A1D99682B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SAVINGS GOALS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EA4F7-97B4-4467-9B5F-B799455C61B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6191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/>
          </a:bodyPr>
          <a:lstStyle/>
          <a:p>
            <a:pPr algn="l">
              <a:def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Know the distance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D334C2-DCE9-4058-B4C9-0D0AC438AC88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Target 1,200 SAR. Current 200. Monthly 300.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F86890-F1B5-4CBD-8AE2-26C1144062AF}"/>
              </a:ext>
            </a:extLst>
          </p:cNvPr>
          <p:cNvSpPr>
            <a:spLocks noGrp="1"/>
          </p:cNvSpPr>
          <p:nvPr/>
        </p:nvSpPr>
        <p:spPr>
          <a:xfrm>
            <a:off x="1162050" y="2266950"/>
            <a:ext cx="10096500" cy="4019550"/>
          </a:xfrm>
          <a:prstGeom prst="roundRect">
            <a:avLst>
              <a:gd name="adj" fmla="val 1896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3AC999-8A9B-47FD-9BE1-98100E8351A1}"/>
              </a:ext>
            </a:extLst>
          </p:cNvPr>
          <p:cNvSpPr>
            <a:spLocks noGrp="1"/>
          </p:cNvSpPr>
          <p:nvPr/>
        </p:nvSpPr>
        <p:spPr>
          <a:xfrm rot="120000">
            <a:off x="1028700" y="2095500"/>
            <a:ext cx="10096500" cy="4019550"/>
          </a:xfrm>
          <a:prstGeom prst="roundRect">
            <a:avLst>
              <a:gd name="adj" fmla="val 1896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t="18151" b="18151"/>
          <a:stretch>
            <a:fillRect/>
          </a:stretch>
        </p:blipFill>
        <p:spPr>
          <a:xfrm>
            <a:off x="1028700" y="2095500"/>
            <a:ext cx="10096500" cy="4019550"/>
          </a:xfrm>
          <a:prstGeom prst="roundRect">
            <a:avLst>
              <a:gd name="adj" fmla="val 284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042553-D002-4F6E-A01B-4E2F46039A67}"/>
              </a:ext>
            </a:extLst>
          </p:cNvPr>
          <p:cNvSpPr>
            <a:spLocks noGrp="1"/>
          </p:cNvSpPr>
          <p:nvPr/>
        </p:nvSpPr>
        <p:spPr>
          <a:xfrm>
            <a:off x="8934450" y="1028700"/>
            <a:ext cx="2152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2175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2175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4 MONTHS</a:t>
            </a:r>
          </a:p>
        </p:txBody>
      </p:sp>
    </p:spTree>
    <p:extLst>
      <p:ext uri="{BB962C8B-B14F-4D97-AF65-F5344CB8AC3E}">
        <p14:creationId xmlns:p14="http://schemas.microsoft.com/office/powerpoint/2010/main" val="129949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BE40C5-A336-4B9D-A593-E143BE942F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6E2A1-06D8-42E7-B9D5-FD75B51C6EF1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42842B-BD87-48D4-A850-6C6B7F4A98C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EXPENSE PLANNER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3F178-83F1-4F90-8088-2A18B0BBAA19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9334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37"/>
          </a:bodyPr>
          <a:lstStyle/>
          <a:p>
            <a:pPr algn="l">
              <a:defRPr sz="3375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375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Every entry changes the picture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F9F868-2547-4D12-B8F4-C7C288B24930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477500" cy="4362450"/>
          </a:xfrm>
          <a:prstGeom prst="roundRect">
            <a:avLst>
              <a:gd name="adj" fmla="val 1747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3FA53D-BB71-4796-966D-EC7B6E488C9F}"/>
              </a:ext>
            </a:extLst>
          </p:cNvPr>
          <p:cNvSpPr>
            <a:spLocks noGrp="1"/>
          </p:cNvSpPr>
          <p:nvPr/>
        </p:nvSpPr>
        <p:spPr>
          <a:xfrm rot="-60000">
            <a:off x="857250" y="1752600"/>
            <a:ext cx="10477500" cy="4362450"/>
          </a:xfrm>
          <a:prstGeom prst="roundRect">
            <a:avLst>
              <a:gd name="adj" fmla="val 1747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6" name="!!ExpensePlannerScreenshot"/>
          <p:cNvPicPr>
            <a:picLocks noChangeAspect="1"/>
          </p:cNvPicPr>
          <p:nvPr/>
        </p:nvPicPr>
        <p:blipFill>
          <a:blip r:embed="rId3"/>
          <a:srcRect t="16691" b="16691"/>
          <a:stretch>
            <a:fillRect/>
          </a:stretch>
        </p:blipFill>
        <p:spPr>
          <a:xfrm>
            <a:off x="857250" y="1752600"/>
            <a:ext cx="10477500" cy="4362450"/>
          </a:xfrm>
          <a:prstGeom prst="roundRect">
            <a:avLst>
              <a:gd name="adj" fmla="val 2620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DCA037-73A3-46B6-80DB-DEF9CE5BB81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1,200 INCOME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93C25-A6AA-47ED-A904-77A00C758CB2}"/>
              </a:ext>
            </a:extLst>
          </p:cNvPr>
          <p:cNvSpPr>
            <a:spLocks noGrp="1"/>
          </p:cNvSpPr>
          <p:nvPr/>
        </p:nvSpPr>
        <p:spPr>
          <a:xfrm>
            <a:off x="3371850" y="61912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550 EXPENSES</a:t>
            </a:r>
          </a:p>
        </p:txBody>
      </p:sp>
    </p:spTree>
    <p:extLst>
      <p:ext uri="{BB962C8B-B14F-4D97-AF65-F5344CB8AC3E}">
        <p14:creationId xmlns:p14="http://schemas.microsoft.com/office/powerpoint/2010/main" val="454510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4342B24D-E671-47A1-BCF3-EF5DF21EAD09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BF4804-5B20-42BA-B9B4-786CC6FFE9B4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F41EA-3E3B-45D8-9A32-8237BA25768B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CE535-8FC5-4577-819B-BCAF921D507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LIVE TOTALS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564B6-38B0-4F80-8F23-0595296DB65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69"/>
          </a:bodyPr>
          <a:lstStyle/>
          <a:p>
            <a:pPr algn="l">
              <a:defRPr sz="397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97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650 SAR remains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E5D33-CE18-4BD5-BBD5-2D968D6BF940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The balance stays visible as the plan changes.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F1173A-B3F7-49B5-84FD-EAA83C46238D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7334250" cy="4000500"/>
          </a:xfrm>
          <a:prstGeom prst="roundRect">
            <a:avLst>
              <a:gd name="adj" fmla="val 1905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AF3720-0EF3-4EB3-9252-F7EE86D6F474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7334250" cy="4000500"/>
          </a:xfrm>
          <a:prstGeom prst="roundRect">
            <a:avLst>
              <a:gd name="adj" fmla="val 1905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4" name="!!ExpensePlannerScreenshot"/>
          <p:cNvPicPr>
            <a:picLocks noChangeAspect="1"/>
          </p:cNvPicPr>
          <p:nvPr/>
        </p:nvPicPr>
        <p:blipFill>
          <a:blip r:embed="rId3"/>
          <a:srcRect t="6364" b="6364"/>
          <a:stretch>
            <a:fillRect/>
          </a:stretch>
        </p:blipFill>
        <p:spPr>
          <a:xfrm>
            <a:off x="723900" y="2133600"/>
            <a:ext cx="733425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2D9828-1E9B-40EB-8C01-43C8DAD01441}"/>
              </a:ext>
            </a:extLst>
          </p:cNvPr>
          <p:cNvSpPr>
            <a:spLocks noGrp="1"/>
          </p:cNvSpPr>
          <p:nvPr/>
        </p:nvSpPr>
        <p:spPr>
          <a:xfrm>
            <a:off x="8420100" y="2381250"/>
            <a:ext cx="2705100" cy="1257300"/>
          </a:xfrm>
          <a:prstGeom prst="roundRect">
            <a:avLst>
              <a:gd name="adj" fmla="val 6061"/>
            </a:avLst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5543E-A741-4ACB-99AF-43816157FC41}"/>
              </a:ext>
            </a:extLst>
          </p:cNvPr>
          <p:cNvSpPr>
            <a:spLocks noGrp="1"/>
          </p:cNvSpPr>
          <p:nvPr/>
        </p:nvSpPr>
        <p:spPr>
          <a:xfrm>
            <a:off x="8629650" y="25336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550 SAR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39AF0C-1A21-4964-9347-0314CCF566A5}"/>
              </a:ext>
            </a:extLst>
          </p:cNvPr>
          <p:cNvSpPr>
            <a:spLocks noGrp="1"/>
          </p:cNvSpPr>
          <p:nvPr/>
        </p:nvSpPr>
        <p:spPr>
          <a:xfrm>
            <a:off x="8629650" y="30480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total expenses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4AF399-B4B2-4683-A1A0-A6C98D7E5CFB}"/>
              </a:ext>
            </a:extLst>
          </p:cNvPr>
          <p:cNvSpPr>
            <a:spLocks noGrp="1"/>
          </p:cNvSpPr>
          <p:nvPr/>
        </p:nvSpPr>
        <p:spPr>
          <a:xfrm>
            <a:off x="8420100" y="3962400"/>
            <a:ext cx="2705100" cy="1257300"/>
          </a:xfrm>
          <a:prstGeom prst="roundRect">
            <a:avLst>
              <a:gd name="adj" fmla="val 6061"/>
            </a:avLst>
          </a:prstGeom>
          <a:solidFill>
            <a:srgbClr val="5E936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B4976-3637-43CB-B34C-C0453C7420DA}"/>
              </a:ext>
            </a:extLst>
          </p:cNvPr>
          <p:cNvSpPr>
            <a:spLocks noGrp="1"/>
          </p:cNvSpPr>
          <p:nvPr/>
        </p:nvSpPr>
        <p:spPr>
          <a:xfrm>
            <a:off x="8629650" y="411480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650 SAR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742C09-F1E2-4EE3-BE2B-DCB166702B14}"/>
              </a:ext>
            </a:extLst>
          </p:cNvPr>
          <p:cNvSpPr>
            <a:spLocks noGrp="1"/>
          </p:cNvSpPr>
          <p:nvPr/>
        </p:nvSpPr>
        <p:spPr>
          <a:xfrm>
            <a:off x="8629650" y="46291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remaining</a:t>
            </a:r>
          </a:p>
        </p:txBody>
      </p:sp>
    </p:spTree>
    <p:extLst>
      <p:ext uri="{BB962C8B-B14F-4D97-AF65-F5344CB8AC3E}">
        <p14:creationId xmlns:p14="http://schemas.microsoft.com/office/powerpoint/2010/main" val="88469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1AD843-BEF2-4B3C-BFD7-5FAFCDF61C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3AB43-4152-4D84-9FD8-7C0A35F53646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BAD644-E171-4719-86C2-FC882809144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SEARCH AND ASSISTANT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8ED40-1E91-4435-BFC5-EB62974FF32F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7048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36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Find it. Ask it.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5DB0CD-4996-4F1B-BD9F-BBC6FD0BD010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5219700" cy="4171950"/>
          </a:xfrm>
          <a:prstGeom prst="roundRect">
            <a:avLst>
              <a:gd name="adj" fmla="val 1826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9911F6-3109-48A7-ADED-11A52D49818F}"/>
              </a:ext>
            </a:extLst>
          </p:cNvPr>
          <p:cNvSpPr>
            <a:spLocks noGrp="1"/>
          </p:cNvSpPr>
          <p:nvPr/>
        </p:nvSpPr>
        <p:spPr>
          <a:xfrm rot="-120000">
            <a:off x="628650" y="1809750"/>
            <a:ext cx="5219700" cy="4171950"/>
          </a:xfrm>
          <a:prstGeom prst="roundRect">
            <a:avLst>
              <a:gd name="adj" fmla="val 1826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10902" r="10902"/>
          <a:stretch>
            <a:fillRect/>
          </a:stretch>
        </p:blipFill>
        <p:spPr>
          <a:xfrm>
            <a:off x="628650" y="1809750"/>
            <a:ext cx="5219700" cy="4171950"/>
          </a:xfrm>
          <a:prstGeom prst="roundRect">
            <a:avLst>
              <a:gd name="adj" fmla="val 2740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292FCF-8BE7-48C2-ADCA-B3483E3FB7A0}"/>
              </a:ext>
            </a:extLst>
          </p:cNvPr>
          <p:cNvSpPr>
            <a:spLocks noGrp="1"/>
          </p:cNvSpPr>
          <p:nvPr/>
        </p:nvSpPr>
        <p:spPr>
          <a:xfrm>
            <a:off x="6515100" y="1981200"/>
            <a:ext cx="5219700" cy="4171950"/>
          </a:xfrm>
          <a:prstGeom prst="roundRect">
            <a:avLst>
              <a:gd name="adj" fmla="val 1826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704C79-F254-4DF1-BB29-872DECCB44DC}"/>
              </a:ext>
            </a:extLst>
          </p:cNvPr>
          <p:cNvSpPr>
            <a:spLocks noGrp="1"/>
          </p:cNvSpPr>
          <p:nvPr/>
        </p:nvSpPr>
        <p:spPr>
          <a:xfrm rot="120000">
            <a:off x="6381750" y="1809750"/>
            <a:ext cx="5219700" cy="4171950"/>
          </a:xfrm>
          <a:prstGeom prst="roundRect">
            <a:avLst>
              <a:gd name="adj" fmla="val 1826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10902" r="10902"/>
          <a:stretch>
            <a:fillRect/>
          </a:stretch>
        </p:blipFill>
        <p:spPr>
          <a:xfrm>
            <a:off x="6381750" y="1809750"/>
            <a:ext cx="5219700" cy="4171950"/>
          </a:xfrm>
          <a:prstGeom prst="roundRect">
            <a:avLst>
              <a:gd name="adj" fmla="val 2740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7B3877-A873-45A7-83EE-A32229F4ED00}"/>
              </a:ext>
            </a:extLst>
          </p:cNvPr>
          <p:cNvSpPr>
            <a:spLocks noGrp="1"/>
          </p:cNvSpPr>
          <p:nvPr/>
        </p:nvSpPr>
        <p:spPr>
          <a:xfrm>
            <a:off x="838200" y="61150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Bundled search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D5D6-22F1-4917-89EB-F18DDAFAE240}"/>
              </a:ext>
            </a:extLst>
          </p:cNvPr>
          <p:cNvSpPr>
            <a:spLocks noGrp="1"/>
          </p:cNvSpPr>
          <p:nvPr/>
        </p:nvSpPr>
        <p:spPr>
          <a:xfrm>
            <a:off x="7829550" y="61150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Rule-based local assistant</a:t>
            </a:r>
          </a:p>
        </p:txBody>
      </p:sp>
    </p:spTree>
    <p:extLst>
      <p:ext uri="{BB962C8B-B14F-4D97-AF65-F5344CB8AC3E}">
        <p14:creationId xmlns:p14="http://schemas.microsoft.com/office/powerpoint/2010/main" val="2079389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F5EF683-62E6-4347-B56C-0FC4C3D64494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869F2A-88C1-42AF-A96E-4D5303043D14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97E80-2C89-4B2B-A070-4434DE2DB277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E830E-FCC6-4882-AF2E-B455D6B0B2D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FEEDBACK AND PRIVACY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B70B5-3874-45D0-82D5-94E8606A84C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73342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/>
          </a:bodyPr>
          <a:lstStyle/>
          <a:p>
            <a:pPr algn="l">
              <a:def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7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Your demo stays local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0879CA-B399-4924-A7A3-886CB1D16866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6858000" cy="4000500"/>
          </a:xfrm>
          <a:prstGeom prst="roundRect">
            <a:avLst>
              <a:gd name="adj" fmla="val 1905"/>
            </a:avLst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0F3FFB-8C0B-4137-A7BB-A6292502A10B}"/>
              </a:ext>
            </a:extLst>
          </p:cNvPr>
          <p:cNvSpPr>
            <a:spLocks noGrp="1"/>
          </p:cNvSpPr>
          <p:nvPr/>
        </p:nvSpPr>
        <p:spPr>
          <a:xfrm rot="-60000">
            <a:off x="800100" y="2095500"/>
            <a:ext cx="6858000" cy="4000500"/>
          </a:xfrm>
          <a:prstGeom prst="roundRect">
            <a:avLst>
              <a:gd name="adj" fmla="val 1905"/>
            </a:avLst>
          </a:prstGeom>
          <a:solidFill>
            <a:srgbClr val="FFFEF8"/>
          </a:solidFill>
          <a:ln w="9525">
            <a:solidFill>
              <a:srgbClr val="F0B63E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3333" b="3333"/>
          <a:stretch>
            <a:fillRect/>
          </a:stretch>
        </p:blipFill>
        <p:spPr>
          <a:xfrm>
            <a:off x="800100" y="2095500"/>
            <a:ext cx="685800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FCDD4A0-422F-407E-8E2B-5443D4205352}"/>
              </a:ext>
            </a:extLst>
          </p:cNvPr>
          <p:cNvSpPr>
            <a:spLocks noGrp="1"/>
          </p:cNvSpPr>
          <p:nvPr/>
        </p:nvSpPr>
        <p:spPr>
          <a:xfrm>
            <a:off x="8248650" y="2533650"/>
            <a:ext cx="3048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NO SERVER SUBMISSION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566D8-0156-47CE-8776-A8DD6D54A43E}"/>
              </a:ext>
            </a:extLst>
          </p:cNvPr>
          <p:cNvSpPr>
            <a:spLocks noGrp="1"/>
          </p:cNvSpPr>
          <p:nvPr/>
        </p:nvSpPr>
        <p:spPr>
          <a:xfrm>
            <a:off x="8286750" y="3276600"/>
            <a:ext cx="28575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permanent storage</a:t>
            </a:r>
          </a:p>
          <a:p>
            <a:pPr algn="l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analytics</a:t>
            </a:r>
          </a:p>
          <a:p>
            <a:pPr algn="l"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banking data</a:t>
            </a:r>
          </a:p>
        </p:txBody>
      </p:sp>
    </p:spTree>
    <p:extLst>
      <p:ext uri="{BB962C8B-B14F-4D97-AF65-F5344CB8AC3E}">
        <p14:creationId xmlns:p14="http://schemas.microsoft.com/office/powerpoint/2010/main" val="946233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EA3894-3EC0-43C7-952D-E28D81AAF3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67DA7A-C28E-41F9-9A1E-66E0DE3ABF42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2F152-F9F8-4C29-8C22-8798EDC07DA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PROJECT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CE0B3C-5F4C-43E0-B8D2-76E9363A4997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8572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36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Built. Tested. Ready.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49943D-43FA-473B-B3CC-72697BD82DF7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DDECE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ABA76-AEF2-4657-899E-DAF4BD7FF76C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7432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0D8E5-3189-45AB-B021-7E1C53CE8587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27432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tests passed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D1BC-ECEE-458D-A96A-218FB48EE0B6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86F37-63F5-4B97-BDFF-2B3AFD8C64C5}"/>
              </a:ext>
            </a:extLst>
          </p:cNvPr>
          <p:cNvSpPr>
            <a:spLocks noGrp="1"/>
          </p:cNvSpPr>
          <p:nvPr/>
        </p:nvSpPr>
        <p:spPr>
          <a:xfrm>
            <a:off x="4533900" y="2324100"/>
            <a:ext cx="27432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32C0B-D4D3-4FF6-910F-7412791CCBEF}"/>
              </a:ext>
            </a:extLst>
          </p:cNvPr>
          <p:cNvSpPr>
            <a:spLocks noGrp="1"/>
          </p:cNvSpPr>
          <p:nvPr/>
        </p:nvSpPr>
        <p:spPr>
          <a:xfrm>
            <a:off x="4533900" y="3181350"/>
            <a:ext cx="27432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lint findings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F1466E-90BE-4E57-8AFB-D565D4A1CF31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DDECE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82C4E5-878C-45E9-A925-99CF6E9E9A79}"/>
              </a:ext>
            </a:extLst>
          </p:cNvPr>
          <p:cNvSpPr>
            <a:spLocks noGrp="1"/>
          </p:cNvSpPr>
          <p:nvPr/>
        </p:nvSpPr>
        <p:spPr>
          <a:xfrm>
            <a:off x="8153400" y="2324100"/>
            <a:ext cx="27432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39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A770CE-A225-4D13-A49B-250096F0D4F6}"/>
              </a:ext>
            </a:extLst>
          </p:cNvPr>
          <p:cNvSpPr>
            <a:spLocks noGrp="1"/>
          </p:cNvSpPr>
          <p:nvPr/>
        </p:nvSpPr>
        <p:spPr>
          <a:xfrm>
            <a:off x="8153400" y="3181350"/>
            <a:ext cx="27432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production build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D0E038-1787-4B68-8B02-5A0C590FA426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607069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607069"/>
                </a:solidFill>
                <a:latin typeface="Helvetica"/>
                <a:ea typeface="Helvetica"/>
                <a:cs typeface="Helvetica"/>
              </a:rPr>
              <a:t>No Lighthouse score claimed. No network submission claimed.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43B773-FC74-4816-9A9B-72D184FCE84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666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Reproducible repository evidence</a:t>
            </a:r>
          </a:p>
        </p:txBody>
      </p:sp>
    </p:spTree>
    <p:extLst>
      <p:ext uri="{BB962C8B-B14F-4D97-AF65-F5344CB8AC3E}">
        <p14:creationId xmlns:p14="http://schemas.microsoft.com/office/powerpoint/2010/main" val="76580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42A84E21-3105-4E08-B4E0-B2AC9AD4CCD1}"/>
              </a:ext>
            </a:extLst>
          </p:cNvPr>
          <p:cNvSpPr>
            <a:spLocks noGrp="1"/>
          </p:cNvSpPr>
          <p:nvPr/>
        </p:nvSpPr>
        <p:spPr>
          <a:xfrm>
            <a:off x="8858250" y="-1524000"/>
            <a:ext cx="4381500" cy="43815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35503AA-9583-4940-B4B1-5876D993FA9D}"/>
              </a:ext>
            </a:extLst>
          </p:cNvPr>
          <p:cNvSpPr>
            <a:spLocks noGrp="1"/>
          </p:cNvSpPr>
          <p:nvPr/>
        </p:nvSpPr>
        <p:spPr>
          <a:xfrm>
            <a:off x="-1619250" y="4667250"/>
            <a:ext cx="3429000" cy="342900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47E3A7-4649-440C-9C06-F756071497C3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A0E36-6754-454C-AF08-32787B9C425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BUDGETBASICS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15359-E89A-4FF2-AC67-D623E878D09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0962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29"/>
          </a:bodyPr>
          <a:lstStyle/>
          <a:p>
            <a:pPr algn="l">
              <a:def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Learn clearly.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FE88B0-7CDD-4B3D-BC4C-5960B194730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80962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29"/>
          </a:bodyPr>
          <a:lstStyle/>
          <a:p>
            <a:pPr algn="l">
              <a:defRPr sz="4350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Practise safely.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9F1A8-88CC-4660-9C85-78E1B96A61CA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80962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29"/>
          </a:bodyPr>
          <a:lstStyle/>
          <a:p>
            <a:pPr algn="l">
              <a:def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3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Keep control.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5FFEDF-1AE9-4B4D-9747-9930C5690458}"/>
              </a:ext>
            </a:extLst>
          </p:cNvPr>
          <p:cNvSpPr>
            <a:spLocks noGrp="1"/>
          </p:cNvSpPr>
          <p:nvPr/>
        </p:nvSpPr>
        <p:spPr>
          <a:xfrm>
            <a:off x="8362950" y="1428750"/>
            <a:ext cx="2381250" cy="238125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8CE379-0FD5-46D3-9CCC-E872E10F1517}"/>
              </a:ext>
            </a:extLst>
          </p:cNvPr>
          <p:cNvSpPr>
            <a:spLocks noGrp="1"/>
          </p:cNvSpPr>
          <p:nvPr/>
        </p:nvSpPr>
        <p:spPr>
          <a:xfrm>
            <a:off x="8972550" y="2038350"/>
            <a:ext cx="1162050" cy="1162050"/>
          </a:xfrm>
          <a:prstGeom prst="ellipse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C228D-F337-429B-A948-C1264E2353DF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DDECE1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DDECE1"/>
                </a:solidFill>
                <a:latin typeface="Helvetica"/>
                <a:ea typeface="Helvetica"/>
                <a:cs typeface="Helvetica"/>
              </a:rPr>
              <a:t>Money skills for a confident first step.</a:t>
            </a:r>
          </a:p>
        </p:txBody>
      </p:sp>
    </p:spTree>
    <p:extLst>
      <p:ext uri="{BB962C8B-B14F-4D97-AF65-F5344CB8AC3E}">
        <p14:creationId xmlns:p14="http://schemas.microsoft.com/office/powerpoint/2010/main" val="372895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3882AD-AAEA-41B1-850C-3733EE83BD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0B6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D3DF4C-8A4C-4460-B115-5F9A9893CDF8}"/>
              </a:ext>
            </a:extLst>
          </p:cNvPr>
          <p:cNvSpPr>
            <a:spLocks noGrp="1"/>
          </p:cNvSpPr>
          <p:nvPr/>
        </p:nvSpPr>
        <p:spPr>
          <a:xfrm>
            <a:off x="11239500" y="323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33039-5C6C-48C3-B85E-1AD8120E229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6AF47-3E6E-4801-88E9-9502F16F2DAD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81"/>
          </a:bodyPr>
          <a:lstStyle/>
          <a:p>
            <a:pPr algn="l">
              <a:defRPr sz="4200" b="1">
                <a:solidFill>
                  <a:srgbClr val="102F28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102F28"/>
                </a:solidFill>
                <a:latin typeface="Helvetica"/>
                <a:ea typeface="Helvetica"/>
                <a:cs typeface="Helvetica"/>
              </a:rPr>
              <a:t>Ctrl+Alt+Defeat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3C61E-FA19-442A-8896-98920E21A30D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F0B63E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F0B63E"/>
                </a:solidFill>
                <a:latin typeface="Helvetica"/>
                <a:ea typeface="Helvetica"/>
                <a:cs typeface="Helvetica"/>
              </a:rPr>
              <a:t>BudgetBasics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43F57-FFA7-4F24-B66B-40D2000C3527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Ahmed Abdulaziz Dahan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DEA29-92FC-4ED0-B254-1C6E116CCFDE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Ahmed Mujahed Al-Shabibi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06BAC-B215-488A-A2D5-873062F6EB2F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Mohamed Saleh Al-Duais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102F85-7914-497F-90D3-4629F5D18C1D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7231F"/>
                </a:solidFill>
                <a:latin typeface="Helvetica"/>
                <a:ea typeface="Helvetica"/>
                <a:cs typeface="Helvetica"/>
              </a:rPr>
              <a:t>Alaa Aldeen Kamel Anaam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1AEA50-5AA3-40C1-8997-803519D0BDB4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4095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2BB7F4-BDDA-441B-97EF-558995533523}"/>
              </a:ext>
            </a:extLst>
          </p:cNvPr>
          <p:cNvSpPr>
            <a:spLocks noGrp="1"/>
          </p:cNvSpPr>
          <p:nvPr/>
        </p:nvSpPr>
        <p:spPr>
          <a:xfrm>
            <a:off x="6667500" y="3295650"/>
            <a:ext cx="4095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DA59DF-F84D-426D-B0F4-347D0739BA89}"/>
              </a:ext>
            </a:extLst>
          </p:cNvPr>
          <p:cNvSpPr>
            <a:spLocks noGrp="1"/>
          </p:cNvSpPr>
          <p:nvPr/>
        </p:nvSpPr>
        <p:spPr>
          <a:xfrm>
            <a:off x="6667500" y="4457700"/>
            <a:ext cx="4095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15325" y="2305050"/>
            <a:ext cx="800100" cy="533400"/>
          </a:xfrm>
          <a:prstGeom prst="roundRect">
            <a:avLst>
              <a:gd name="adj" fmla="val 21429"/>
            </a:avLst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65073" y="4629150"/>
            <a:ext cx="1700605" cy="533400"/>
          </a:xfrm>
          <a:prstGeom prst="roundRect">
            <a:avLst>
              <a:gd name="adj" fmla="val 21429"/>
            </a:avLst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14962" y="3467100"/>
            <a:ext cx="1600825" cy="533400"/>
          </a:xfrm>
          <a:prstGeom prst="roundRect">
            <a:avLst>
              <a:gd name="adj" fmla="val 21429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495D79A-4C16-4AFE-8BD1-273182F44547}"/>
              </a:ext>
            </a:extLst>
          </p:cNvPr>
          <p:cNvSpPr>
            <a:spLocks noGrp="1"/>
          </p:cNvSpPr>
          <p:nvPr/>
        </p:nvSpPr>
        <p:spPr>
          <a:xfrm>
            <a:off x="723900" y="57912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E9367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5E9367"/>
                </a:solidFill>
                <a:latin typeface="Helvetica"/>
                <a:ea typeface="Helvetica"/>
                <a:cs typeface="Helvetica"/>
              </a:rPr>
              <a:t>TECHWIZ 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D78BE9-A913-4DEC-92D1-8AD0648AF41A}"/>
              </a:ext>
            </a:extLst>
          </p:cNvPr>
          <p:cNvSpPr>
            <a:spLocks noGrp="1"/>
          </p:cNvSpPr>
          <p:nvPr/>
        </p:nvSpPr>
        <p:spPr>
          <a:xfrm>
            <a:off x="7734300" y="57912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607069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607069"/>
                </a:solidFill>
                <a:latin typeface="Helvetica"/>
                <a:ea typeface="Helvetica"/>
                <a:cs typeface="Helvetica"/>
              </a:rPr>
              <a:t>budget basics, made practical</a:t>
            </a:r>
          </a:p>
        </p:txBody>
      </p:sp>
    </p:spTree>
    <p:extLst>
      <p:ext uri="{BB962C8B-B14F-4D97-AF65-F5344CB8AC3E}">
        <p14:creationId xmlns:p14="http://schemas.microsoft.com/office/powerpoint/2010/main" val="626818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DocSecurity>0</DocSecurity>
  <PresentationFormat>Widescreen</PresentationFormat>
  <Paragraphs>135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Helvetica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</cp:lastModifiedBy>
  <cp:revision>1</cp:revision>
  <dcterms:created xsi:type="dcterms:W3CDTF">2026-09-25T20:15:38Z</dcterms:created>
  <dcterms:modified xsi:type="dcterms:W3CDTF">2026-09-25T20:42:32Z</dcterms:modified>
</cp:coreProperties>
</file>